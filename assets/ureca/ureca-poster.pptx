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8" r:id="rId5"/>
  </p:sldIdLst>
  <p:sldSz cx="21386800" cy="30279975"/>
  <p:notesSz cx="6858000" cy="9144000"/>
  <p:defaultTextStyle>
    <a:defPPr>
      <a:defRPr lang="en-US"/>
    </a:defPPr>
    <a:lvl1pPr algn="l" defTabSz="2951163" rtl="0" eaLnBrk="0" fontAlgn="base" hangingPunct="0">
      <a:spcBef>
        <a:spcPct val="0"/>
      </a:spcBef>
      <a:spcAft>
        <a:spcPct val="0"/>
      </a:spcAft>
      <a:defRPr sz="58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1474788" indent="-1017588" algn="l" defTabSz="2951163" rtl="0" eaLnBrk="0" fontAlgn="base" hangingPunct="0">
      <a:spcBef>
        <a:spcPct val="0"/>
      </a:spcBef>
      <a:spcAft>
        <a:spcPct val="0"/>
      </a:spcAft>
      <a:defRPr sz="58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2951163" indent="-2036763" algn="l" defTabSz="2951163" rtl="0" eaLnBrk="0" fontAlgn="base" hangingPunct="0">
      <a:spcBef>
        <a:spcPct val="0"/>
      </a:spcBef>
      <a:spcAft>
        <a:spcPct val="0"/>
      </a:spcAft>
      <a:defRPr sz="58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4427538" indent="-3055938" algn="l" defTabSz="2951163" rtl="0" eaLnBrk="0" fontAlgn="base" hangingPunct="0">
      <a:spcBef>
        <a:spcPct val="0"/>
      </a:spcBef>
      <a:spcAft>
        <a:spcPct val="0"/>
      </a:spcAft>
      <a:defRPr sz="58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5903913" indent="-4075113" algn="l" defTabSz="2951163" rtl="0" eaLnBrk="0" fontAlgn="base" hangingPunct="0">
      <a:spcBef>
        <a:spcPct val="0"/>
      </a:spcBef>
      <a:spcAft>
        <a:spcPct val="0"/>
      </a:spcAft>
      <a:defRPr sz="58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58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sz="58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sz="58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sz="58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7">
          <p15:clr>
            <a:srgbClr val="A4A3A4"/>
          </p15:clr>
        </p15:guide>
        <p15:guide id="2" pos="673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3C83"/>
    <a:srgbClr val="F1607C"/>
    <a:srgbClr val="FEC054"/>
    <a:srgbClr val="00B6F1"/>
    <a:srgbClr val="57004E"/>
    <a:srgbClr val="58595B"/>
    <a:srgbClr val="BBCB27"/>
    <a:srgbClr val="7ACC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45" autoAdjust="0"/>
    <p:restoredTop sz="94689" autoAdjust="0"/>
  </p:normalViewPr>
  <p:slideViewPr>
    <p:cSldViewPr>
      <p:cViewPr>
        <p:scale>
          <a:sx n="50" d="100"/>
          <a:sy n="50" d="100"/>
        </p:scale>
        <p:origin x="542" y="-1022"/>
      </p:cViewPr>
      <p:guideLst>
        <p:guide orient="horz" pos="9537"/>
        <p:guide pos="67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E7223C-170F-4AB3-BFC1-E17EF1DF0F37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0DF3A-25D4-4943-A14D-B87A6C5399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1091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0DF3A-25D4-4943-A14D-B87A6C5399B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5306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4010" y="9406424"/>
            <a:ext cx="18178780" cy="64905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8020" y="17158652"/>
            <a:ext cx="14970760" cy="773821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476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9523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4284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59046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380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88569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033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18092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FE9DA-FF4F-4456-B1DE-A8BDE041D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2F79CF-A1C8-41B8-9FFA-E375C91F3F8D}" type="datetimeFigureOut">
              <a:rPr lang="en-SG"/>
              <a:pPr>
                <a:defRPr/>
              </a:pPr>
              <a:t>26/3/2026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D7CFC-8F57-44BD-9273-D711B8FAC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91B2C-D543-4B7B-A1B9-35699BDA5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9D2B0F-7AF5-4715-9138-72BE15A77C13}" type="slidenum">
              <a:rPr lang="en-SG"/>
              <a:pPr>
                <a:defRPr/>
              </a:pPr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1202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2712C-766B-4407-8783-3DC940313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45159C-856D-449F-9A03-FA6019010734}" type="datetimeFigureOut">
              <a:rPr lang="en-SG"/>
              <a:pPr>
                <a:defRPr/>
              </a:pPr>
              <a:t>26/3/2026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EE9D7-0C11-42BD-BCFE-348C2FAD4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BCEED-D9E2-4F1F-8692-A7B04BFAD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C4BC57-105B-4008-87A2-D150B77AE27E}" type="slidenum">
              <a:rPr lang="en-SG"/>
              <a:pPr>
                <a:defRPr/>
              </a:pPr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5188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411" y="19457689"/>
            <a:ext cx="18178780" cy="6013939"/>
          </a:xfrm>
        </p:spPr>
        <p:txBody>
          <a:bodyPr anchor="t"/>
          <a:lstStyle>
            <a:lvl1pPr algn="l">
              <a:defRPr sz="129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9411" y="12833949"/>
            <a:ext cx="18178780" cy="6623741"/>
          </a:xfrm>
        </p:spPr>
        <p:txBody>
          <a:bodyPr anchor="b"/>
          <a:lstStyle>
            <a:lvl1pPr marL="0" indent="0">
              <a:buNone/>
              <a:defRPr sz="6500">
                <a:solidFill>
                  <a:schemeClr val="tx1">
                    <a:tint val="75000"/>
                  </a:schemeClr>
                </a:solidFill>
              </a:defRPr>
            </a:lvl1pPr>
            <a:lvl2pPr marL="1476162" indent="0">
              <a:buNone/>
              <a:defRPr sz="5800">
                <a:solidFill>
                  <a:schemeClr val="tx1">
                    <a:tint val="75000"/>
                  </a:schemeClr>
                </a:solidFill>
              </a:defRPr>
            </a:lvl2pPr>
            <a:lvl3pPr marL="2952323" indent="0">
              <a:buNone/>
              <a:defRPr sz="5200">
                <a:solidFill>
                  <a:schemeClr val="tx1">
                    <a:tint val="75000"/>
                  </a:schemeClr>
                </a:solidFill>
              </a:defRPr>
            </a:lvl3pPr>
            <a:lvl4pPr marL="4428485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4pPr>
            <a:lvl5pPr marL="5904647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5pPr>
            <a:lvl6pPr marL="7380808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6pPr>
            <a:lvl7pPr marL="8856970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7pPr>
            <a:lvl8pPr marL="10333131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8pPr>
            <a:lvl9pPr marL="11809293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6E059-913B-4A6A-B300-2A9541335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A55A12-B456-42F3-83FA-3EBBC7C1C8BF}" type="datetimeFigureOut">
              <a:rPr lang="en-SG"/>
              <a:pPr>
                <a:defRPr/>
              </a:pPr>
              <a:t>26/3/2026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008AB-2771-4DD6-837A-701EBD8DC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97905-E5DB-4CDD-9060-A335AA23F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7581EC-CD30-43B8-87C3-EF366F403A32}" type="slidenum">
              <a:rPr lang="en-SG"/>
              <a:pPr>
                <a:defRPr/>
              </a:pPr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56392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340" y="7065332"/>
            <a:ext cx="9445837" cy="19983383"/>
          </a:xfrm>
        </p:spPr>
        <p:txBody>
          <a:bodyPr/>
          <a:lstStyle>
            <a:lvl1pPr>
              <a:defRPr sz="9000"/>
            </a:lvl1pPr>
            <a:lvl2pPr>
              <a:defRPr sz="7700"/>
            </a:lvl2pPr>
            <a:lvl3pPr>
              <a:defRPr sz="6500"/>
            </a:lvl3pPr>
            <a:lvl4pPr>
              <a:defRPr sz="5800"/>
            </a:lvl4pPr>
            <a:lvl5pPr>
              <a:defRPr sz="5800"/>
            </a:lvl5pPr>
            <a:lvl6pPr>
              <a:defRPr sz="5800"/>
            </a:lvl6pPr>
            <a:lvl7pPr>
              <a:defRPr sz="5800"/>
            </a:lvl7pPr>
            <a:lvl8pPr>
              <a:defRPr sz="5800"/>
            </a:lvl8pPr>
            <a:lvl9pPr>
              <a:defRPr sz="5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71623" y="7065332"/>
            <a:ext cx="9445837" cy="19983383"/>
          </a:xfrm>
        </p:spPr>
        <p:txBody>
          <a:bodyPr/>
          <a:lstStyle>
            <a:lvl1pPr>
              <a:defRPr sz="9000"/>
            </a:lvl1pPr>
            <a:lvl2pPr>
              <a:defRPr sz="7700"/>
            </a:lvl2pPr>
            <a:lvl3pPr>
              <a:defRPr sz="6500"/>
            </a:lvl3pPr>
            <a:lvl4pPr>
              <a:defRPr sz="5800"/>
            </a:lvl4pPr>
            <a:lvl5pPr>
              <a:defRPr sz="5800"/>
            </a:lvl5pPr>
            <a:lvl6pPr>
              <a:defRPr sz="5800"/>
            </a:lvl6pPr>
            <a:lvl7pPr>
              <a:defRPr sz="5800"/>
            </a:lvl7pPr>
            <a:lvl8pPr>
              <a:defRPr sz="5800"/>
            </a:lvl8pPr>
            <a:lvl9pPr>
              <a:defRPr sz="5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851C09E-46DD-4709-A73A-B6BA2ED1B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B9B13E-7A5D-4F0E-A557-CA3CFFCB03B7}" type="datetimeFigureOut">
              <a:rPr lang="en-SG"/>
              <a:pPr>
                <a:defRPr/>
              </a:pPr>
              <a:t>26/3/2026</a:t>
            </a:fld>
            <a:endParaRPr lang="en-SG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8763DF7-AF00-4353-8AAC-90C3EEC30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D548759-9A03-44C4-B5BD-ADAF2545F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6BA618-D901-4CF6-AD7A-281EE5FC6216}" type="slidenum">
              <a:rPr lang="en-SG"/>
              <a:pPr>
                <a:defRPr/>
              </a:pPr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67954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341" y="6777949"/>
            <a:ext cx="9449551" cy="2824727"/>
          </a:xfrm>
        </p:spPr>
        <p:txBody>
          <a:bodyPr anchor="b"/>
          <a:lstStyle>
            <a:lvl1pPr marL="0" indent="0">
              <a:buNone/>
              <a:defRPr sz="7700" b="1"/>
            </a:lvl1pPr>
            <a:lvl2pPr marL="1476162" indent="0">
              <a:buNone/>
              <a:defRPr sz="6500" b="1"/>
            </a:lvl2pPr>
            <a:lvl3pPr marL="2952323" indent="0">
              <a:buNone/>
              <a:defRPr sz="5800" b="1"/>
            </a:lvl3pPr>
            <a:lvl4pPr marL="4428485" indent="0">
              <a:buNone/>
              <a:defRPr sz="5200" b="1"/>
            </a:lvl4pPr>
            <a:lvl5pPr marL="5904647" indent="0">
              <a:buNone/>
              <a:defRPr sz="5200" b="1"/>
            </a:lvl5pPr>
            <a:lvl6pPr marL="7380808" indent="0">
              <a:buNone/>
              <a:defRPr sz="5200" b="1"/>
            </a:lvl6pPr>
            <a:lvl7pPr marL="8856970" indent="0">
              <a:buNone/>
              <a:defRPr sz="5200" b="1"/>
            </a:lvl7pPr>
            <a:lvl8pPr marL="10333131" indent="0">
              <a:buNone/>
              <a:defRPr sz="5200" b="1"/>
            </a:lvl8pPr>
            <a:lvl9pPr marL="11809293" indent="0">
              <a:buNone/>
              <a:defRPr sz="5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341" y="9602676"/>
            <a:ext cx="9449551" cy="17446034"/>
          </a:xfrm>
        </p:spPr>
        <p:txBody>
          <a:bodyPr/>
          <a:lstStyle>
            <a:lvl1pPr>
              <a:defRPr sz="7700"/>
            </a:lvl1pPr>
            <a:lvl2pPr>
              <a:defRPr sz="6500"/>
            </a:lvl2pPr>
            <a:lvl3pPr>
              <a:defRPr sz="5800"/>
            </a:lvl3pPr>
            <a:lvl4pPr>
              <a:defRPr sz="5200"/>
            </a:lvl4pPr>
            <a:lvl5pPr>
              <a:defRPr sz="5200"/>
            </a:lvl5pPr>
            <a:lvl6pPr>
              <a:defRPr sz="5200"/>
            </a:lvl6pPr>
            <a:lvl7pPr>
              <a:defRPr sz="5200"/>
            </a:lvl7pPr>
            <a:lvl8pPr>
              <a:defRPr sz="5200"/>
            </a:lvl8pPr>
            <a:lvl9pPr>
              <a:defRPr sz="5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64200" y="6777949"/>
            <a:ext cx="9453262" cy="2824727"/>
          </a:xfrm>
        </p:spPr>
        <p:txBody>
          <a:bodyPr anchor="b"/>
          <a:lstStyle>
            <a:lvl1pPr marL="0" indent="0">
              <a:buNone/>
              <a:defRPr sz="7700" b="1"/>
            </a:lvl1pPr>
            <a:lvl2pPr marL="1476162" indent="0">
              <a:buNone/>
              <a:defRPr sz="6500" b="1"/>
            </a:lvl2pPr>
            <a:lvl3pPr marL="2952323" indent="0">
              <a:buNone/>
              <a:defRPr sz="5800" b="1"/>
            </a:lvl3pPr>
            <a:lvl4pPr marL="4428485" indent="0">
              <a:buNone/>
              <a:defRPr sz="5200" b="1"/>
            </a:lvl4pPr>
            <a:lvl5pPr marL="5904647" indent="0">
              <a:buNone/>
              <a:defRPr sz="5200" b="1"/>
            </a:lvl5pPr>
            <a:lvl6pPr marL="7380808" indent="0">
              <a:buNone/>
              <a:defRPr sz="5200" b="1"/>
            </a:lvl6pPr>
            <a:lvl7pPr marL="8856970" indent="0">
              <a:buNone/>
              <a:defRPr sz="5200" b="1"/>
            </a:lvl7pPr>
            <a:lvl8pPr marL="10333131" indent="0">
              <a:buNone/>
              <a:defRPr sz="5200" b="1"/>
            </a:lvl8pPr>
            <a:lvl9pPr marL="11809293" indent="0">
              <a:buNone/>
              <a:defRPr sz="5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64200" y="9602676"/>
            <a:ext cx="9453262" cy="17446034"/>
          </a:xfrm>
        </p:spPr>
        <p:txBody>
          <a:bodyPr/>
          <a:lstStyle>
            <a:lvl1pPr>
              <a:defRPr sz="7700"/>
            </a:lvl1pPr>
            <a:lvl2pPr>
              <a:defRPr sz="6500"/>
            </a:lvl2pPr>
            <a:lvl3pPr>
              <a:defRPr sz="5800"/>
            </a:lvl3pPr>
            <a:lvl4pPr>
              <a:defRPr sz="5200"/>
            </a:lvl4pPr>
            <a:lvl5pPr>
              <a:defRPr sz="5200"/>
            </a:lvl5pPr>
            <a:lvl6pPr>
              <a:defRPr sz="5200"/>
            </a:lvl6pPr>
            <a:lvl7pPr>
              <a:defRPr sz="5200"/>
            </a:lvl7pPr>
            <a:lvl8pPr>
              <a:defRPr sz="5200"/>
            </a:lvl8pPr>
            <a:lvl9pPr>
              <a:defRPr sz="5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C5BF2A5-56D5-42C1-9AFE-185A8FFC9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8DF0CC-5120-4C6E-8701-069A53900821}" type="datetimeFigureOut">
              <a:rPr lang="en-SG"/>
              <a:pPr>
                <a:defRPr/>
              </a:pPr>
              <a:t>26/3/2026</a:t>
            </a:fld>
            <a:endParaRPr lang="en-SG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ECA2D94-EC7F-4D00-8613-E598A65A7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703A8E4-908E-4868-9C98-CFFF86DC2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D82C84-D7B3-4DFD-AD3E-735C69CEFB8F}" type="slidenum">
              <a:rPr lang="en-SG"/>
              <a:pPr>
                <a:defRPr/>
              </a:pPr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95506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700A1E7-4261-48C4-86E7-A0D98751F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99C927-E38E-4BC9-9E44-9E7438A0BE51}" type="datetimeFigureOut">
              <a:rPr lang="en-SG"/>
              <a:pPr>
                <a:defRPr/>
              </a:pPr>
              <a:t>26/3/2026</a:t>
            </a:fld>
            <a:endParaRPr lang="en-SG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79D2F92-5E1F-4F0D-AAA1-E308734CF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7909451-15F4-430F-9ECF-4E185BA8F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22F0C3-B362-4FE9-8DA2-EF5051CE0391}" type="slidenum">
              <a:rPr lang="en-SG"/>
              <a:pPr>
                <a:defRPr/>
              </a:pPr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1007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5CAEB10-5D56-4FA7-B8FA-31144EE17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CBF687-0443-494F-8449-60478B8C5B52}" type="datetimeFigureOut">
              <a:rPr lang="en-SG"/>
              <a:pPr>
                <a:defRPr/>
              </a:pPr>
              <a:t>26/3/2026</a:t>
            </a:fld>
            <a:endParaRPr lang="en-SG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25F1EB7-390F-47AB-A7FC-CAB0E4349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FB7938A-6323-4B40-B7B4-6E73A017F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08762C-DE3B-4773-B11F-9A2C164B03B5}" type="slidenum">
              <a:rPr lang="en-SG"/>
              <a:pPr>
                <a:defRPr/>
              </a:pPr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4171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341" y="1205592"/>
            <a:ext cx="7036111" cy="5130774"/>
          </a:xfrm>
        </p:spPr>
        <p:txBody>
          <a:bodyPr anchor="b"/>
          <a:lstStyle>
            <a:lvl1pPr algn="l">
              <a:defRPr sz="65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1645" y="1205594"/>
            <a:ext cx="11955817" cy="25843121"/>
          </a:xfrm>
        </p:spPr>
        <p:txBody>
          <a:bodyPr/>
          <a:lstStyle>
            <a:lvl1pPr>
              <a:defRPr sz="10300"/>
            </a:lvl1pPr>
            <a:lvl2pPr>
              <a:defRPr sz="9000"/>
            </a:lvl2pPr>
            <a:lvl3pPr>
              <a:defRPr sz="7700"/>
            </a:lvl3pPr>
            <a:lvl4pPr>
              <a:defRPr sz="6500"/>
            </a:lvl4pPr>
            <a:lvl5pPr>
              <a:defRPr sz="6500"/>
            </a:lvl5pPr>
            <a:lvl6pPr>
              <a:defRPr sz="6500"/>
            </a:lvl6pPr>
            <a:lvl7pPr>
              <a:defRPr sz="6500"/>
            </a:lvl7pPr>
            <a:lvl8pPr>
              <a:defRPr sz="6500"/>
            </a:lvl8pPr>
            <a:lvl9pPr>
              <a:defRPr sz="6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9341" y="6336368"/>
            <a:ext cx="7036111" cy="20712347"/>
          </a:xfrm>
        </p:spPr>
        <p:txBody>
          <a:bodyPr/>
          <a:lstStyle>
            <a:lvl1pPr marL="0" indent="0">
              <a:buNone/>
              <a:defRPr sz="4500"/>
            </a:lvl1pPr>
            <a:lvl2pPr marL="1476162" indent="0">
              <a:buNone/>
              <a:defRPr sz="3900"/>
            </a:lvl2pPr>
            <a:lvl3pPr marL="2952323" indent="0">
              <a:buNone/>
              <a:defRPr sz="3200"/>
            </a:lvl3pPr>
            <a:lvl4pPr marL="4428485" indent="0">
              <a:buNone/>
              <a:defRPr sz="2900"/>
            </a:lvl4pPr>
            <a:lvl5pPr marL="5904647" indent="0">
              <a:buNone/>
              <a:defRPr sz="2900"/>
            </a:lvl5pPr>
            <a:lvl6pPr marL="7380808" indent="0">
              <a:buNone/>
              <a:defRPr sz="2900"/>
            </a:lvl6pPr>
            <a:lvl7pPr marL="8856970" indent="0">
              <a:buNone/>
              <a:defRPr sz="2900"/>
            </a:lvl7pPr>
            <a:lvl8pPr marL="10333131" indent="0">
              <a:buNone/>
              <a:defRPr sz="2900"/>
            </a:lvl8pPr>
            <a:lvl9pPr marL="11809293" indent="0">
              <a:buNone/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96BEAE0-A247-42F2-9B5C-E6149B6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4064B-A84C-4CE5-9774-C629E363B7E0}" type="datetimeFigureOut">
              <a:rPr lang="en-SG"/>
              <a:pPr>
                <a:defRPr/>
              </a:pPr>
              <a:t>26/3/2026</a:t>
            </a:fld>
            <a:endParaRPr lang="en-SG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4489D27-8362-4954-AB46-33773654F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A9F44D-A6DC-493D-A5F5-98487A17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37E5A2-145D-4B91-9654-26805A6B6715}" type="slidenum">
              <a:rPr lang="en-SG"/>
              <a:pPr>
                <a:defRPr/>
              </a:pPr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16838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962" y="21195984"/>
            <a:ext cx="12832080" cy="2502307"/>
          </a:xfrm>
        </p:spPr>
        <p:txBody>
          <a:bodyPr anchor="b"/>
          <a:lstStyle>
            <a:lvl1pPr algn="l">
              <a:defRPr sz="65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962" y="2705571"/>
            <a:ext cx="12832080" cy="18167985"/>
          </a:xfrm>
        </p:spPr>
        <p:txBody>
          <a:bodyPr rtlCol="0">
            <a:normAutofit/>
          </a:bodyPr>
          <a:lstStyle>
            <a:lvl1pPr marL="0" indent="0">
              <a:buNone/>
              <a:defRPr sz="10300"/>
            </a:lvl1pPr>
            <a:lvl2pPr marL="1476162" indent="0">
              <a:buNone/>
              <a:defRPr sz="9000"/>
            </a:lvl2pPr>
            <a:lvl3pPr marL="2952323" indent="0">
              <a:buNone/>
              <a:defRPr sz="7700"/>
            </a:lvl3pPr>
            <a:lvl4pPr marL="4428485" indent="0">
              <a:buNone/>
              <a:defRPr sz="6500"/>
            </a:lvl4pPr>
            <a:lvl5pPr marL="5904647" indent="0">
              <a:buNone/>
              <a:defRPr sz="6500"/>
            </a:lvl5pPr>
            <a:lvl6pPr marL="7380808" indent="0">
              <a:buNone/>
              <a:defRPr sz="6500"/>
            </a:lvl6pPr>
            <a:lvl7pPr marL="8856970" indent="0">
              <a:buNone/>
              <a:defRPr sz="6500"/>
            </a:lvl7pPr>
            <a:lvl8pPr marL="10333131" indent="0">
              <a:buNone/>
              <a:defRPr sz="6500"/>
            </a:lvl8pPr>
            <a:lvl9pPr marL="11809293" indent="0">
              <a:buNone/>
              <a:defRPr sz="6500"/>
            </a:lvl9pPr>
          </a:lstStyle>
          <a:p>
            <a:pPr lvl="0"/>
            <a:endParaRPr lang="en-SG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962" y="23698291"/>
            <a:ext cx="12832080" cy="3553688"/>
          </a:xfrm>
        </p:spPr>
        <p:txBody>
          <a:bodyPr/>
          <a:lstStyle>
            <a:lvl1pPr marL="0" indent="0">
              <a:buNone/>
              <a:defRPr sz="4500"/>
            </a:lvl1pPr>
            <a:lvl2pPr marL="1476162" indent="0">
              <a:buNone/>
              <a:defRPr sz="3900"/>
            </a:lvl2pPr>
            <a:lvl3pPr marL="2952323" indent="0">
              <a:buNone/>
              <a:defRPr sz="3200"/>
            </a:lvl3pPr>
            <a:lvl4pPr marL="4428485" indent="0">
              <a:buNone/>
              <a:defRPr sz="2900"/>
            </a:lvl4pPr>
            <a:lvl5pPr marL="5904647" indent="0">
              <a:buNone/>
              <a:defRPr sz="2900"/>
            </a:lvl5pPr>
            <a:lvl6pPr marL="7380808" indent="0">
              <a:buNone/>
              <a:defRPr sz="2900"/>
            </a:lvl6pPr>
            <a:lvl7pPr marL="8856970" indent="0">
              <a:buNone/>
              <a:defRPr sz="2900"/>
            </a:lvl7pPr>
            <a:lvl8pPr marL="10333131" indent="0">
              <a:buNone/>
              <a:defRPr sz="2900"/>
            </a:lvl8pPr>
            <a:lvl9pPr marL="11809293" indent="0">
              <a:buNone/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84DC298-9206-4C78-BC30-488BCE46D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EF3A93-164E-41F1-B826-FB21504E9451}" type="datetimeFigureOut">
              <a:rPr lang="en-SG"/>
              <a:pPr>
                <a:defRPr/>
              </a:pPr>
              <a:t>26/3/2026</a:t>
            </a:fld>
            <a:endParaRPr lang="en-SG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932F45D-8BCE-44AD-ADAE-030AA3545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68FE872-AE85-40E3-A5BA-9403EF290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3A63DD-EC85-4D6C-AD1F-61126B48577D}" type="slidenum">
              <a:rPr lang="en-SG"/>
              <a:pPr>
                <a:defRPr/>
              </a:pPr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8062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4C66C-CA32-4DD7-B4AB-CDC51FAC8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CF02F9-325A-4BE3-B57A-6E76C7106958}" type="datetimeFigureOut">
              <a:rPr lang="en-SG"/>
              <a:pPr>
                <a:defRPr/>
              </a:pPr>
              <a:t>26/3/2026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02773-318C-402C-9370-15447CCDF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4FA8F-B906-4062-B092-7A416D2D5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EE5E60-63B7-41C9-858F-9FACC50251ED}" type="slidenum">
              <a:rPr lang="en-SG"/>
              <a:pPr>
                <a:defRPr/>
              </a:pPr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13675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05430" y="1212608"/>
            <a:ext cx="4812030" cy="2583610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9340" y="1212608"/>
            <a:ext cx="14079643" cy="25836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9CE33-BBFD-4308-9D65-22D1182E1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0B5E20-1A2D-4697-A364-D008C4F67454}" type="datetimeFigureOut">
              <a:rPr lang="en-SG"/>
              <a:pPr>
                <a:defRPr/>
              </a:pPr>
              <a:t>26/3/2026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9B3E3-2BA7-40E8-93C7-B0BDFC43D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B9EDA-1965-4ACA-B1E0-21B972B83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8A918-8C80-4A63-BA76-A906D1AA227C}" type="slidenum">
              <a:rPr lang="en-SG"/>
              <a:pPr>
                <a:defRPr/>
              </a:pPr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7805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E3C0473D-3651-41F1-8651-FF66016EFE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69975" y="1212850"/>
            <a:ext cx="19246850" cy="504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95232" tIns="147616" rIns="295232" bIns="14761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SG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4643DDE-6679-4B45-9D28-EAF1398620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69975" y="7065963"/>
            <a:ext cx="19246850" cy="1998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95232" tIns="147616" rIns="295232" bIns="1476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SG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F57A8-737C-4572-A0F4-E99D30264D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9975" y="28065413"/>
            <a:ext cx="4989513" cy="1611312"/>
          </a:xfrm>
          <a:prstGeom prst="rect">
            <a:avLst/>
          </a:prstGeom>
        </p:spPr>
        <p:txBody>
          <a:bodyPr vert="horz" lIns="295232" tIns="147616" rIns="295232" bIns="147616" rtlCol="0" anchor="ctr"/>
          <a:lstStyle>
            <a:lvl1pPr algn="l" defTabSz="2952323" eaLnBrk="1" fontAlgn="auto" hangingPunct="1">
              <a:spcBef>
                <a:spcPts val="0"/>
              </a:spcBef>
              <a:spcAft>
                <a:spcPts val="0"/>
              </a:spcAft>
              <a:defRPr sz="39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741EBADC-691D-4ACC-889A-5A2C608D2190}" type="datetimeFigureOut">
              <a:rPr lang="en-SG"/>
              <a:pPr>
                <a:defRPr/>
              </a:pPr>
              <a:t>26/3/2026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1B076-99A1-46EB-9E80-ED8A5D2C3B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07263" y="28065413"/>
            <a:ext cx="6772275" cy="1611312"/>
          </a:xfrm>
          <a:prstGeom prst="rect">
            <a:avLst/>
          </a:prstGeom>
        </p:spPr>
        <p:txBody>
          <a:bodyPr vert="horz" lIns="295232" tIns="147616" rIns="295232" bIns="147616" rtlCol="0" anchor="ctr"/>
          <a:lstStyle>
            <a:lvl1pPr algn="ctr" defTabSz="2952323" eaLnBrk="1" fontAlgn="auto" hangingPunct="1">
              <a:spcBef>
                <a:spcPts val="0"/>
              </a:spcBef>
              <a:spcAft>
                <a:spcPts val="0"/>
              </a:spcAft>
              <a:defRPr sz="3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002AD-5B8B-4064-95BC-C951519D61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7313" y="28065413"/>
            <a:ext cx="4989512" cy="1611312"/>
          </a:xfrm>
          <a:prstGeom prst="rect">
            <a:avLst/>
          </a:prstGeom>
        </p:spPr>
        <p:txBody>
          <a:bodyPr vert="horz" lIns="295232" tIns="147616" rIns="295232" bIns="147616" rtlCol="0" anchor="ctr"/>
          <a:lstStyle>
            <a:lvl1pPr algn="r" defTabSz="2952323" eaLnBrk="1" fontAlgn="auto" hangingPunct="1">
              <a:spcBef>
                <a:spcPts val="0"/>
              </a:spcBef>
              <a:spcAft>
                <a:spcPts val="0"/>
              </a:spcAft>
              <a:defRPr sz="39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EA9E9A4-76AE-4C25-B592-D1BBEFE9314A}" type="slidenum">
              <a:rPr lang="en-SG"/>
              <a:pPr>
                <a:defRPr/>
              </a:pPr>
              <a:t>‹#›</a:t>
            </a:fld>
            <a:endParaRPr lang="en-S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951163" rtl="0" fontAlgn="base">
        <a:spcBef>
          <a:spcPct val="0"/>
        </a:spcBef>
        <a:spcAft>
          <a:spcPct val="0"/>
        </a:spcAft>
        <a:defRPr sz="142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2951163" rtl="0" fontAlgn="base">
        <a:spcBef>
          <a:spcPct val="0"/>
        </a:spcBef>
        <a:spcAft>
          <a:spcPct val="0"/>
        </a:spcAft>
        <a:defRPr sz="14200">
          <a:solidFill>
            <a:schemeClr val="tx1"/>
          </a:solidFill>
          <a:latin typeface="Calibri" panose="020F0502020204030204" pitchFamily="34" charset="0"/>
        </a:defRPr>
      </a:lvl2pPr>
      <a:lvl3pPr algn="ctr" defTabSz="2951163" rtl="0" fontAlgn="base">
        <a:spcBef>
          <a:spcPct val="0"/>
        </a:spcBef>
        <a:spcAft>
          <a:spcPct val="0"/>
        </a:spcAft>
        <a:defRPr sz="14200">
          <a:solidFill>
            <a:schemeClr val="tx1"/>
          </a:solidFill>
          <a:latin typeface="Calibri" panose="020F0502020204030204" pitchFamily="34" charset="0"/>
        </a:defRPr>
      </a:lvl3pPr>
      <a:lvl4pPr algn="ctr" defTabSz="2951163" rtl="0" fontAlgn="base">
        <a:spcBef>
          <a:spcPct val="0"/>
        </a:spcBef>
        <a:spcAft>
          <a:spcPct val="0"/>
        </a:spcAft>
        <a:defRPr sz="14200">
          <a:solidFill>
            <a:schemeClr val="tx1"/>
          </a:solidFill>
          <a:latin typeface="Calibri" panose="020F0502020204030204" pitchFamily="34" charset="0"/>
        </a:defRPr>
      </a:lvl4pPr>
      <a:lvl5pPr algn="ctr" defTabSz="2951163" rtl="0" fontAlgn="base">
        <a:spcBef>
          <a:spcPct val="0"/>
        </a:spcBef>
        <a:spcAft>
          <a:spcPct val="0"/>
        </a:spcAft>
        <a:defRPr sz="142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2951163" rtl="0" fontAlgn="base">
        <a:spcBef>
          <a:spcPct val="0"/>
        </a:spcBef>
        <a:spcAft>
          <a:spcPct val="0"/>
        </a:spcAft>
        <a:defRPr sz="142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2951163" rtl="0" fontAlgn="base">
        <a:spcBef>
          <a:spcPct val="0"/>
        </a:spcBef>
        <a:spcAft>
          <a:spcPct val="0"/>
        </a:spcAft>
        <a:defRPr sz="142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2951163" rtl="0" fontAlgn="base">
        <a:spcBef>
          <a:spcPct val="0"/>
        </a:spcBef>
        <a:spcAft>
          <a:spcPct val="0"/>
        </a:spcAft>
        <a:defRPr sz="142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2951163" rtl="0" fontAlgn="base">
        <a:spcBef>
          <a:spcPct val="0"/>
        </a:spcBef>
        <a:spcAft>
          <a:spcPct val="0"/>
        </a:spcAft>
        <a:defRPr sz="142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1106488" indent="-1106488" algn="l" defTabSz="2951163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0300" kern="1200">
          <a:solidFill>
            <a:schemeClr val="tx1"/>
          </a:solidFill>
          <a:latin typeface="+mn-lt"/>
          <a:ea typeface="+mn-ea"/>
          <a:cs typeface="+mn-cs"/>
        </a:defRPr>
      </a:lvl1pPr>
      <a:lvl2pPr marL="2398713" indent="-922338" algn="l" defTabSz="2951163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9000" kern="1200">
          <a:solidFill>
            <a:schemeClr val="tx1"/>
          </a:solidFill>
          <a:latin typeface="+mn-lt"/>
          <a:ea typeface="+mn-ea"/>
          <a:cs typeface="+mn-cs"/>
        </a:defRPr>
      </a:lvl2pPr>
      <a:lvl3pPr marL="3689350" indent="-736600" algn="l" defTabSz="2951163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3pPr>
      <a:lvl4pPr marL="5165725" indent="-736600" algn="l" defTabSz="2951163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6500" kern="1200">
          <a:solidFill>
            <a:schemeClr val="tx1"/>
          </a:solidFill>
          <a:latin typeface="+mn-lt"/>
          <a:ea typeface="+mn-ea"/>
          <a:cs typeface="+mn-cs"/>
        </a:defRPr>
      </a:lvl4pPr>
      <a:lvl5pPr marL="6642100" indent="-736600" algn="l" defTabSz="2951163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6500" kern="1200">
          <a:solidFill>
            <a:schemeClr val="tx1"/>
          </a:solidFill>
          <a:latin typeface="+mn-lt"/>
          <a:ea typeface="+mn-ea"/>
          <a:cs typeface="+mn-cs"/>
        </a:defRPr>
      </a:lvl5pPr>
      <a:lvl6pPr marL="8118889" indent="-738081" algn="l" defTabSz="2952323" rtl="0" eaLnBrk="1" latinLnBrk="0" hangingPunct="1">
        <a:spcBef>
          <a:spcPct val="20000"/>
        </a:spcBef>
        <a:buFont typeface="Arial" panose="020B0604020202020204" pitchFamily="34" charset="0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6pPr>
      <a:lvl7pPr marL="9595051" indent="-738081" algn="l" defTabSz="2952323" rtl="0" eaLnBrk="1" latinLnBrk="0" hangingPunct="1">
        <a:spcBef>
          <a:spcPct val="20000"/>
        </a:spcBef>
        <a:buFont typeface="Arial" panose="020B0604020202020204" pitchFamily="34" charset="0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7pPr>
      <a:lvl8pPr marL="11071212" indent="-738081" algn="l" defTabSz="2952323" rtl="0" eaLnBrk="1" latinLnBrk="0" hangingPunct="1">
        <a:spcBef>
          <a:spcPct val="20000"/>
        </a:spcBef>
        <a:buFont typeface="Arial" panose="020B0604020202020204" pitchFamily="34" charset="0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8pPr>
      <a:lvl9pPr marL="12547374" indent="-738081" algn="l" defTabSz="2952323" rtl="0" eaLnBrk="1" latinLnBrk="0" hangingPunct="1">
        <a:spcBef>
          <a:spcPct val="20000"/>
        </a:spcBef>
        <a:buFont typeface="Arial" panose="020B0604020202020204" pitchFamily="34" charset="0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52323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1pPr>
      <a:lvl2pPr marL="1476162" algn="l" defTabSz="2952323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2pPr>
      <a:lvl3pPr marL="2952323" algn="l" defTabSz="2952323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3pPr>
      <a:lvl4pPr marL="4428485" algn="l" defTabSz="2952323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4pPr>
      <a:lvl5pPr marL="5904647" algn="l" defTabSz="2952323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5pPr>
      <a:lvl6pPr marL="7380808" algn="l" defTabSz="2952323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6pPr>
      <a:lvl7pPr marL="8856970" algn="l" defTabSz="2952323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7pPr>
      <a:lvl8pPr marL="10333131" algn="l" defTabSz="2952323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8pPr>
      <a:lvl9pPr marL="11809293" algn="l" defTabSz="2952323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hyperlink" Target="https://youtu.be/DVo1nVeV8Z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youtu.be/vWjt8TKY_h8" TargetMode="External"/><Relationship Id="rId5" Type="http://schemas.openxmlformats.org/officeDocument/2006/relationships/hyperlink" Target="https://youtu.be/9Q2zXdsodgE" TargetMode="Externa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>
            <a:extLst>
              <a:ext uri="{FF2B5EF4-FFF2-40B4-BE49-F238E27FC236}">
                <a16:creationId xmlns:a16="http://schemas.microsoft.com/office/drawing/2014/main" id="{6459C8A1-BF19-47C9-B2C9-6D712BC4BCB5}"/>
              </a:ext>
            </a:extLst>
          </p:cNvPr>
          <p:cNvSpPr/>
          <p:nvPr/>
        </p:nvSpPr>
        <p:spPr>
          <a:xfrm>
            <a:off x="-36513" y="29163963"/>
            <a:ext cx="21450301" cy="1169987"/>
          </a:xfrm>
          <a:prstGeom prst="rect">
            <a:avLst/>
          </a:prstGeom>
          <a:solidFill>
            <a:srgbClr val="0A3C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defTabSz="295232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SG" sz="4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51" name="Rectangle 298">
            <a:extLst>
              <a:ext uri="{FF2B5EF4-FFF2-40B4-BE49-F238E27FC236}">
                <a16:creationId xmlns:a16="http://schemas.microsoft.com/office/drawing/2014/main" id="{418DA285-4D3C-4D19-8C49-B61171756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86238" y="29425900"/>
            <a:ext cx="410368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5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5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5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58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58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/>
            <a:r>
              <a:rPr lang="en-US" altLang="en-US" sz="4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www.ntu.edu.sg</a:t>
            </a:r>
            <a:endParaRPr lang="en-US" altLang="en-US" sz="4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2" name="Rectangle 5">
            <a:extLst>
              <a:ext uri="{FF2B5EF4-FFF2-40B4-BE49-F238E27FC236}">
                <a16:creationId xmlns:a16="http://schemas.microsoft.com/office/drawing/2014/main" id="{68A00366-2E73-4A64-ADD3-81808E604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485" y="2789238"/>
            <a:ext cx="20801013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79" tIns="47890" rIns="95779" bIns="47890" anchor="ctr"/>
          <a:lstStyle>
            <a:lvl1pPr defTabSz="957263">
              <a:spcBef>
                <a:spcPct val="20000"/>
              </a:spcBef>
              <a:buFont typeface="Arial" panose="020B0604020202020204" pitchFamily="34" charset="0"/>
              <a:buChar char="•"/>
              <a:defRPr sz="10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2398713" indent="-922338" defTabSz="957263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3689350" indent="-736600" defTabSz="957263">
              <a:spcBef>
                <a:spcPct val="20000"/>
              </a:spcBef>
              <a:buFont typeface="Arial" panose="020B0604020202020204" pitchFamily="34" charset="0"/>
              <a:buChar char="•"/>
              <a:defRPr sz="7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5165725" indent="-736600" defTabSz="957263">
              <a:spcBef>
                <a:spcPct val="20000"/>
              </a:spcBef>
              <a:buFont typeface="Arial" panose="020B0604020202020204" pitchFamily="34" charset="0"/>
              <a:buChar char="–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6642100" indent="-736600" defTabSz="957263">
              <a:spcBef>
                <a:spcPct val="20000"/>
              </a:spcBef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7099300" indent="-736600" defTabSz="957263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7556500" indent="-736600" defTabSz="957263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8013700" indent="-736600" defTabSz="957263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8470900" indent="-736600" defTabSz="957263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6000" b="1" dirty="0">
                <a:solidFill>
                  <a:srgbClr val="C60C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CCDS25012</a:t>
            </a:r>
            <a:r>
              <a:rPr lang="en-US" altLang="en-US" sz="6000" b="1" dirty="0">
                <a:solidFill>
                  <a:srgbClr val="C60C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zh-TW" altLang="en-US" sz="6000" b="1" dirty="0">
                <a:solidFill>
                  <a:srgbClr val="C60C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6000" b="1" dirty="0">
                <a:solidFill>
                  <a:srgbClr val="C60C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planning meets controlling</a:t>
            </a:r>
            <a:endParaRPr lang="en-US" altLang="en-US" sz="6000" b="1" dirty="0">
              <a:solidFill>
                <a:srgbClr val="C60C3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Rectangle 6">
            <a:extLst>
              <a:ext uri="{FF2B5EF4-FFF2-40B4-BE49-F238E27FC236}">
                <a16:creationId xmlns:a16="http://schemas.microsoft.com/office/drawing/2014/main" id="{EC88D2BC-7EBD-4028-8C26-D111C9E94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485" y="3797301"/>
            <a:ext cx="19700875" cy="158273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 Neue Light"/>
                <a:ea typeface="ＭＳ Ｐゴシック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 Neue Light"/>
                <a:ea typeface="ＭＳ Ｐゴシック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 Neue Light"/>
                <a:ea typeface="ＭＳ Ｐゴシック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 Neue Light"/>
                <a:ea typeface="ＭＳ Ｐゴシック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 Neue Light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 Neue Light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 Neue Light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 Neue Light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 Neue Light"/>
                <a:ea typeface="ＭＳ Ｐゴシック" pitchFamily="34" charset="-128"/>
              </a:defRPr>
            </a:lvl9pPr>
          </a:lstStyle>
          <a:p>
            <a:pPr marL="0" indent="0" defTabSz="2952323" fontAlgn="auto">
              <a:spcAft>
                <a:spcPts val="0"/>
              </a:spcAft>
              <a:buFontTx/>
              <a:buNone/>
              <a:defRPr/>
            </a:pPr>
            <a:r>
              <a:rPr lang="en-US" altLang="en-US" sz="4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 Chou Yu-Fan</a:t>
            </a:r>
          </a:p>
          <a:p>
            <a:pPr marL="0" indent="0" defTabSz="2952323" fontAlgn="auto">
              <a:spcAft>
                <a:spcPts val="0"/>
              </a:spcAft>
              <a:buFontTx/>
              <a:buNone/>
              <a:defRPr/>
            </a:pPr>
            <a:r>
              <a:rPr lang="en-US" altLang="en-US" sz="4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 by Asst Prof Sung </a:t>
            </a:r>
            <a:r>
              <a:rPr lang="en-US" altLang="en-US" sz="40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Yoonchang</a:t>
            </a:r>
            <a:endParaRPr lang="en-US" altLang="en-US" sz="4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2952323"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endParaRPr lang="en-US" altLang="en-US" sz="4000" b="1" dirty="0">
              <a:solidFill>
                <a:srgbClr val="1F49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5" name="Rectangle 42">
            <a:extLst>
              <a:ext uri="{FF2B5EF4-FFF2-40B4-BE49-F238E27FC236}">
                <a16:creationId xmlns:a16="http://schemas.microsoft.com/office/drawing/2014/main" id="{11C0ECCA-EF9B-4CC3-A30B-21BF5FC68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238" y="29151263"/>
            <a:ext cx="9145587" cy="111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5257" tIns="7628" rIns="15257" bIns="7628">
            <a:spAutoFit/>
          </a:bodyPr>
          <a:lstStyle>
            <a:lvl1pPr defTabSz="244475">
              <a:defRPr sz="5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244475">
              <a:defRPr sz="5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244475">
              <a:defRPr sz="5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244475">
              <a:defRPr sz="58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244475">
              <a:defRPr sz="58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244475" fontAlgn="base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244475" fontAlgn="base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244475" fontAlgn="base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244475" fontAlgn="base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6000" b="1" baseline="-250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URECA</a:t>
            </a:r>
          </a:p>
          <a:p>
            <a:pPr eaLnBrk="1" hangingPunct="1"/>
            <a:r>
              <a:rPr lang="en-US" altLang="en-US" sz="3600" b="1" baseline="-250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Undergraduate Research Programme </a:t>
            </a:r>
          </a:p>
          <a:p>
            <a:pPr eaLnBrk="1" hangingPunct="1"/>
            <a:endParaRPr lang="en-US" altLang="en-US" sz="1200" i="1" baseline="-2500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56" name="Rectangle 3">
                <a:extLst>
                  <a:ext uri="{FF2B5EF4-FFF2-40B4-BE49-F238E27FC236}">
                    <a16:creationId xmlns:a16="http://schemas.microsoft.com/office/drawing/2014/main" id="{787D8A20-1BC5-40BD-BBB4-5293FF6BD2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485" y="5772451"/>
                <a:ext cx="8928497" cy="248941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defTabSz="955675">
                  <a:defRPr sz="5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defTabSz="955675">
                  <a:defRPr sz="5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defTabSz="955675">
                  <a:defRPr sz="5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defTabSz="955675">
                  <a:defRPr sz="5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defTabSz="955675">
                  <a:defRPr sz="5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955675" fontAlgn="base">
                  <a:spcBef>
                    <a:spcPct val="0"/>
                  </a:spcBef>
                  <a:spcAft>
                    <a:spcPct val="0"/>
                  </a:spcAft>
                  <a:defRPr sz="5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955675" fontAlgn="base">
                  <a:spcBef>
                    <a:spcPct val="0"/>
                  </a:spcBef>
                  <a:spcAft>
                    <a:spcPct val="0"/>
                  </a:spcAft>
                  <a:defRPr sz="5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955675" fontAlgn="base">
                  <a:spcBef>
                    <a:spcPct val="0"/>
                  </a:spcBef>
                  <a:spcAft>
                    <a:spcPct val="0"/>
                  </a:spcAft>
                  <a:defRPr sz="5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955675" fontAlgn="base">
                  <a:spcBef>
                    <a:spcPct val="0"/>
                  </a:spcBef>
                  <a:spcAft>
                    <a:spcPct val="0"/>
                  </a:spcAft>
                  <a:defRPr sz="5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/>
                <a:r>
                  <a:rPr lang="en-US" altLang="zh-TW" sz="5000" b="1" dirty="0">
                    <a:solidFill>
                      <a:srgbClr val="FF0000"/>
                    </a:solidFill>
                    <a:cs typeface="Calibri" panose="020F0502020204030204" pitchFamily="34" charset="0"/>
                    <a:sym typeface="Calibri" panose="020F0502020204030204" pitchFamily="34" charset="0"/>
                  </a:rPr>
                  <a:t>1.</a:t>
                </a:r>
                <a:r>
                  <a:rPr lang="zh-TW" altLang="en-US" sz="5000" b="1" dirty="0">
                    <a:solidFill>
                      <a:srgbClr val="FF0000"/>
                    </a:solidFill>
                    <a:cs typeface="Calibri" panose="020F0502020204030204" pitchFamily="34" charset="0"/>
                    <a:sym typeface="Calibri" panose="020F0502020204030204" pitchFamily="34" charset="0"/>
                  </a:rPr>
                  <a:t> </a:t>
                </a:r>
                <a:r>
                  <a:rPr lang="en-US" altLang="zh-TW" sz="5000" b="1" dirty="0">
                    <a:solidFill>
                      <a:srgbClr val="FF0000"/>
                    </a:solidFill>
                    <a:cs typeface="Calibri" panose="020F0502020204030204" pitchFamily="34" charset="0"/>
                    <a:sym typeface="Calibri" panose="020F0502020204030204" pitchFamily="34" charset="0"/>
                  </a:rPr>
                  <a:t>Motivation</a:t>
                </a:r>
              </a:p>
              <a:p>
                <a:pPr eaLnBrk="1"/>
                <a:r>
                  <a:rPr lang="en-US" altLang="zh-TW" sz="3000" dirty="0"/>
                  <a:t>	This project addresses the problem of </a:t>
                </a:r>
                <a:r>
                  <a:rPr lang="en-US" altLang="zh-TW" sz="3000" b="1" dirty="0"/>
                  <a:t>real-time safe navigation for robots in dynamic obstacle environments</a:t>
                </a:r>
                <a:r>
                  <a:rPr lang="en-US" altLang="zh-TW" sz="3000" dirty="0"/>
                  <a:t>. Specifically, we aim to integrate </a:t>
                </a:r>
                <a:r>
                  <a:rPr lang="en-US" altLang="zh-TW" sz="3000" dirty="0" err="1"/>
                  <a:t>pybullet_planning</a:t>
                </a:r>
                <a:r>
                  <a:rPr lang="en-US" altLang="zh-TW" sz="3000" dirty="0"/>
                  <a:t> with Control Barrier Function QP (CBF-QP) to ensure that a robot can track a planned path while provably avoiding moving obstacles at runtime. </a:t>
                </a:r>
              </a:p>
              <a:p>
                <a:pPr eaLnBrk="1"/>
                <a:r>
                  <a:rPr lang="en-US" altLang="zh-TW" sz="3000" dirty="0"/>
                  <a:t>	</a:t>
                </a:r>
                <a:r>
                  <a:rPr lang="en-US" altLang="zh-TW" sz="3000" dirty="0" err="1"/>
                  <a:t>Pybullet_planning</a:t>
                </a:r>
                <a:r>
                  <a:rPr lang="en-US" altLang="zh-TW" sz="3000" dirty="0"/>
                  <a:t> provides collision-free path planning assuming a </a:t>
                </a:r>
                <a:r>
                  <a:rPr lang="en-US" altLang="zh-TW" sz="3000" b="1" dirty="0"/>
                  <a:t>static environment</a:t>
                </a:r>
                <a:r>
                  <a:rPr lang="en-US" altLang="zh-TW" sz="3000" dirty="0"/>
                  <a:t>. Once a path is executed, there is no runtime mechanism to handle </a:t>
                </a:r>
                <a:r>
                  <a:rPr lang="en-US" altLang="zh-TW" sz="3000" b="1" dirty="0"/>
                  <a:t>moving obstacles</a:t>
                </a:r>
                <a:r>
                  <a:rPr lang="en-US" altLang="zh-TW" sz="3000" dirty="0"/>
                  <a:t> — safety is only guaranteed at planning time, not at execution time. CBF-QP addresses exactly this gap by providing a formal, real-time safety certificate during control.</a:t>
                </a:r>
              </a:p>
              <a:p>
                <a:pPr eaLnBrk="1"/>
                <a:r>
                  <a:rPr lang="en-US" altLang="zh-TW" sz="4800" b="1" dirty="0">
                    <a:solidFill>
                      <a:srgbClr val="FF0000"/>
                    </a:solidFill>
                    <a:cs typeface="Calibri" panose="020F0502020204030204" pitchFamily="34" charset="0"/>
                    <a:sym typeface="Calibri" panose="020F0502020204030204" pitchFamily="34" charset="0"/>
                  </a:rPr>
                  <a:t>2. Methodology</a:t>
                </a:r>
              </a:p>
              <a:p>
                <a:r>
                  <a:rPr lang="en-US" altLang="zh-TW" sz="3200" b="1" dirty="0"/>
                  <a:t>	Path Planning</a:t>
                </a:r>
                <a:r>
                  <a:rPr lang="en-US" altLang="zh-TW" sz="3200" dirty="0"/>
                  <a:t>: RRT generates a nominal path.</a:t>
                </a:r>
              </a:p>
              <a:p>
                <a:r>
                  <a:rPr lang="en-US" altLang="zh-TW" sz="3200" b="1" dirty="0"/>
                  <a:t>	Replan trigger</a:t>
                </a:r>
                <a:r>
                  <a:rPr lang="en-US" altLang="zh-TW" sz="3200" dirty="0"/>
                  <a:t>: When a new obstacle spawns on the current path, replan is triggered.</a:t>
                </a:r>
              </a:p>
              <a:p>
                <a:r>
                  <a:rPr lang="en-US" altLang="zh-TW" sz="3200" b="1" dirty="0"/>
                  <a:t>	Gap problem</a:t>
                </a:r>
                <a:r>
                  <a:rPr lang="en-US" altLang="zh-TW" sz="3200" dirty="0"/>
                  <a:t>: Even we assume replanning takes place immediately, the robot continues moving due to inertia. The physical constraint may result in collision when trying to switch to the new path.</a:t>
                </a:r>
              </a:p>
              <a:p>
                <a:r>
                  <a:rPr lang="en-US" altLang="zh-TW" sz="3200" b="1" dirty="0"/>
                  <a:t>	CBF-QP as safety net</a:t>
                </a:r>
                <a:r>
                  <a:rPr lang="en-US" altLang="zh-TW" sz="3200" dirty="0"/>
                  <a:t>: CBF-QP modifies the control input in real-time to maintain a safe distance from the new obstacle.</a:t>
                </a:r>
              </a:p>
              <a:p>
                <a:r>
                  <a:rPr lang="en-US" altLang="zh-TW" sz="4800" b="1" dirty="0">
                    <a:solidFill>
                      <a:srgbClr val="FF0000"/>
                    </a:solidFill>
                    <a:cs typeface="Calibri" panose="020F0502020204030204" pitchFamily="34" charset="0"/>
                    <a:sym typeface="Calibri" panose="020F0502020204030204" pitchFamily="34" charset="0"/>
                  </a:rPr>
                  <a:t>3. Findings</a:t>
                </a:r>
              </a:p>
              <a:p>
                <a:r>
                  <a:rPr lang="en-US" altLang="zh-TW" sz="3200" dirty="0">
                    <a:sym typeface="Calibri" panose="020F0502020204030204" pitchFamily="34" charset="0"/>
                  </a:rPr>
                  <a:t>Let the states be:</a:t>
                </a:r>
                <a:endParaRPr lang="en-US" altLang="en-US" sz="3200" dirty="0">
                  <a:sym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4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TW" sz="3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3400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3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34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TW" sz="3400" b="1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3400" b="1" i="1" dirty="0" smtClean="0"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e>
                          </m:d>
                        </m:e>
                        <m:sup>
                          <m:r>
                            <a:rPr lang="en-US" altLang="zh-TW" sz="3400" b="1" i="1" dirty="0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TW" sz="3400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TW" sz="34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TW" sz="3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34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3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3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3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TW" sz="3400" b="1" i="1" dirty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sub>
                              </m:sSub>
                              <m:r>
                                <a:rPr lang="en-US" altLang="zh-TW" sz="3400" b="1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3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3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TW" sz="3400" b="1" i="1" dirty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sub>
                              </m:sSub>
                              <m:r>
                                <a:rPr lang="en-US" altLang="zh-TW" sz="3400" b="1" i="1" dirty="0">
                                  <a:latin typeface="Cambria Math" panose="02040503050406030204" pitchFamily="18" charset="0"/>
                                </a:rPr>
                                <m:t>​,</m:t>
                              </m:r>
                              <m:r>
                                <a:rPr lang="en-US" altLang="zh-TW" sz="34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zh-TW" sz="3400" b="1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3400" b="1" i="1" dirty="0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  <m:r>
                                <a:rPr lang="en-US" altLang="zh-TW" sz="3400" b="1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3400" b="1" i="1" dirty="0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e>
                          </m:d>
                        </m:e>
                        <m:sup>
                          <m:r>
                            <a:rPr lang="en-US" altLang="zh-TW" sz="3400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 altLang="zh-TW" sz="3400" b="1" i="1" dirty="0">
                  <a:latin typeface="Cambria Math" panose="02040503050406030204" pitchFamily="18" charset="0"/>
                </a:endParaRPr>
              </a:p>
              <a:p>
                <a:r>
                  <a:rPr lang="en-US" altLang="zh-TW" sz="3200" dirty="0"/>
                  <a:t>Calculate the first derivative of h (Lie derivative)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zh-TW" sz="3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</m:acc>
                      <m:r>
                        <a:rPr lang="en-US" altLang="zh-TW" sz="3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400" b="1" i="1">
                          <a:latin typeface="Cambria Math" panose="02040503050406030204" pitchFamily="18" charset="0"/>
                        </a:rPr>
                        <m:t>𝟐</m:t>
                      </m:r>
                      <m:sSub>
                        <m:sSubPr>
                          <m:ctrlPr>
                            <a:rPr lang="en-US" altLang="zh-TW" sz="3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US" altLang="zh-TW" sz="3400" b="1" i="1">
                          <a:latin typeface="Cambria Math" panose="02040503050406030204" pitchFamily="18" charset="0"/>
                        </a:rPr>
                        <m:t>​</m:t>
                      </m:r>
                      <m:acc>
                        <m:accPr>
                          <m:chr m:val="̇"/>
                          <m:ctrlPr>
                            <a:rPr lang="en-US" altLang="zh-TW" sz="3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</m:e>
                      </m:acc>
                      <m:r>
                        <a:rPr lang="en-US" altLang="zh-TW" sz="3400" b="1" i="1">
                          <a:latin typeface="Cambria Math" panose="02040503050406030204" pitchFamily="18" charset="0"/>
                        </a:rPr>
                        <m:t>​+</m:t>
                      </m:r>
                      <m:r>
                        <a:rPr lang="en-US" altLang="zh-TW" sz="3400" b="1" i="1">
                          <a:latin typeface="Cambria Math" panose="02040503050406030204" pitchFamily="18" charset="0"/>
                        </a:rPr>
                        <m:t>𝟐</m:t>
                      </m:r>
                      <m:sSub>
                        <m:sSubPr>
                          <m:ctrlPr>
                            <a:rPr lang="en-US" altLang="zh-TW" sz="3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r>
                        <a:rPr lang="en-US" altLang="zh-TW" sz="3400" b="1" i="1">
                          <a:latin typeface="Cambria Math" panose="02040503050406030204" pitchFamily="18" charset="0"/>
                        </a:rPr>
                        <m:t>​</m:t>
                      </m:r>
                      <m:acc>
                        <m:accPr>
                          <m:chr m:val="̇"/>
                          <m:ctrlPr>
                            <a:rPr lang="en-US" altLang="zh-TW" sz="3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</m:acc>
                      <m:r>
                        <a:rPr lang="en-US" altLang="zh-TW" sz="3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4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TW" sz="3400" b="1" i="1">
                          <a:latin typeface="Cambria Math" panose="02040503050406030204" pitchFamily="18" charset="0"/>
                        </a:rPr>
                        <m:t>𝒗</m:t>
                      </m:r>
                      <m:d>
                        <m:dPr>
                          <m:ctrlPr>
                            <a:rPr lang="en-US" altLang="zh-TW" sz="3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  <m:t>𝜹</m:t>
                              </m:r>
                            </m:e>
                            <m:sub>
                              <m: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𝒄𝒐𝒔</m:t>
                          </m:r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l-GR" altLang="zh-TW" sz="3400" b="1" i="1">
                              <a:latin typeface="Cambria Math" panose="02040503050406030204" pitchFamily="18" charset="0"/>
                            </a:rPr>
                            <m:t>𝜹</m:t>
                          </m:r>
                          <m:sSub>
                            <m:sSubPr>
                              <m:ctrlP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altLang="zh-TW" sz="3400" b="1" i="1">
                                  <a:latin typeface="Cambria Math" panose="02040503050406030204" pitchFamily="18" charset="0"/>
                                </a:rPr>
                                <m:t>𝜹</m:t>
                              </m:r>
                            </m:e>
                            <m:sub>
                              <m: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𝒔𝒊𝒏</m:t>
                          </m:r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US" altLang="zh-TW" sz="3400" b="1" i="1" dirty="0">
                  <a:latin typeface="Cambria Math" panose="02040503050406030204" pitchFamily="18" charset="0"/>
                </a:endParaRPr>
              </a:p>
              <a:p>
                <a:r>
                  <a:rPr lang="en-US" altLang="zh-TW" sz="3200" dirty="0"/>
                  <a:t>Since the control input does not appear in the first derivative of h, a second-order CBF formulation is required.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n-US" altLang="zh-TW" sz="3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</m:acc>
                      <m:r>
                        <a:rPr lang="en-US" altLang="zh-TW" sz="3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400" b="1" i="1">
                          <a:latin typeface="Cambria Math" panose="02040503050406030204" pitchFamily="18" charset="0"/>
                        </a:rPr>
                        <m:t>𝒅</m:t>
                      </m:r>
                      <m:r>
                        <m:rPr>
                          <m:lit/>
                        </m:rPr>
                        <a:rPr lang="en-US" altLang="zh-TW" sz="3400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TW" sz="3400" b="1" i="1">
                          <a:latin typeface="Cambria Math" panose="02040503050406030204" pitchFamily="18" charset="0"/>
                        </a:rPr>
                        <m:t>𝒅𝒕</m:t>
                      </m:r>
                      <m:r>
                        <a:rPr lang="en-US" altLang="zh-TW" sz="3400" b="1" i="1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3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𝒗</m:t>
                          </m:r>
                          <m:d>
                            <m:dPr>
                              <m:ctrlP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3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3400" b="1" i="1">
                                      <a:latin typeface="Cambria Math" panose="02040503050406030204" pitchFamily="18" charset="0"/>
                                    </a:rPr>
                                    <m:t>𝜹</m:t>
                                  </m:r>
                                </m:e>
                                <m:sub>
                                  <m:r>
                                    <a:rPr lang="en-US" altLang="zh-TW" sz="3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sub>
                              </m:sSub>
                              <m: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  <m: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  <m:t>𝒄𝒐𝒔</m:t>
                              </m:r>
                              <m: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3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3400" b="1" i="1">
                                      <a:latin typeface="Cambria Math" panose="02040503050406030204" pitchFamily="18" charset="0"/>
                                    </a:rPr>
                                    <m:t>𝜹</m:t>
                                  </m:r>
                                </m:e>
                                <m:sub>
                                  <m:r>
                                    <a:rPr lang="en-US" altLang="zh-TW" sz="34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sub>
                              </m:sSub>
                              <m: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  <m: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  <m:t>𝒔𝒊𝒏</m:t>
                              </m:r>
                              <m: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TW" sz="3400" b="1" dirty="0"/>
              </a:p>
              <a:p>
                <a:r>
                  <a:rPr lang="en-US" altLang="zh-TW" sz="3200" dirty="0"/>
                  <a:t>After simplification: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n-US" altLang="zh-TW" sz="3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</m:acc>
                      <m:r>
                        <a:rPr lang="en-US" altLang="zh-TW" sz="3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4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TW" sz="3400" b="1" i="1">
                          <a:latin typeface="Cambria Math" panose="02040503050406030204" pitchFamily="18" charset="0"/>
                        </a:rPr>
                        <m:t>𝒂</m:t>
                      </m:r>
                      <m:d>
                        <m:dPr>
                          <m:ctrlPr>
                            <a:rPr lang="en-US" altLang="zh-TW" sz="3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  <m:t>𝜹</m:t>
                              </m:r>
                            </m:e>
                            <m:sub>
                              <m: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𝒄𝒐𝒔</m:t>
                          </m:r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  <m:t>𝜹</m:t>
                              </m:r>
                            </m:e>
                            <m:sub>
                              <m: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𝒔𝒊𝒏</m:t>
                          </m:r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US" altLang="zh-TW" sz="3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3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34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TW" sz="3400" b="1" i="1">
                          <a:latin typeface="Cambria Math" panose="02040503050406030204" pitchFamily="18" charset="0"/>
                        </a:rPr>
                        <m:t>𝒗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3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𝝎</m:t>
                          </m:r>
                          <m:d>
                            <m:dPr>
                              <m:ctrlP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3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3400" b="1" i="1">
                                      <a:latin typeface="Cambria Math" panose="02040503050406030204" pitchFamily="18" charset="0"/>
                                    </a:rPr>
                                    <m:t>𝜹</m:t>
                                  </m:r>
                                </m:e>
                                <m:sub>
                                  <m:r>
                                    <a:rPr lang="en-US" altLang="zh-TW" sz="34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sub>
                              </m:sSub>
                              <m: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  <m: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  <m:t>𝒄𝒐𝒔</m:t>
                              </m:r>
                              <m: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3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3400" b="1" i="1">
                                      <a:latin typeface="Cambria Math" panose="02040503050406030204" pitchFamily="18" charset="0"/>
                                    </a:rPr>
                                    <m:t>𝜹</m:t>
                                  </m:r>
                                </m:e>
                                <m:sub>
                                  <m:r>
                                    <a:rPr lang="en-US" altLang="zh-TW" sz="3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sub>
                              </m:sSub>
                              <m: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  <m: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  <m:t>𝒔𝒊𝒏</m:t>
                              </m:r>
                              <m: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TW" sz="3400" b="1" dirty="0"/>
              </a:p>
              <a:p>
                <a:r>
                  <a:rPr lang="en-US" altLang="zh-TW" sz="3000" dirty="0"/>
                  <a:t>General constraint is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n-US" altLang="zh-TW" sz="3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</m:acc>
                      <m:r>
                        <a:rPr lang="en-US" altLang="zh-TW" sz="3400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3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𝜸</m:t>
                          </m:r>
                        </m:e>
                        <m:sub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TW" sz="3400" b="1" i="1">
                          <a:latin typeface="Cambria Math" panose="02040503050406030204" pitchFamily="18" charset="0"/>
                        </a:rPr>
                        <m:t>​</m:t>
                      </m:r>
                      <m:acc>
                        <m:accPr>
                          <m:chr m:val="̇"/>
                          <m:ctrlPr>
                            <a:rPr lang="en-US" altLang="zh-TW" sz="3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</m:acc>
                      <m:r>
                        <a:rPr lang="en-US" altLang="zh-TW" sz="3400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3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𝜸</m:t>
                          </m:r>
                        </m:e>
                        <m:sub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TW" sz="3400" b="1" i="1">
                          <a:latin typeface="Cambria Math" panose="02040503050406030204" pitchFamily="18" charset="0"/>
                        </a:rPr>
                        <m:t>​</m:t>
                      </m:r>
                      <m:sSub>
                        <m:sSubPr>
                          <m:ctrlPr>
                            <a:rPr lang="en-US" altLang="zh-TW" sz="3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𝝍</m:t>
                          </m:r>
                        </m:e>
                        <m:sub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TW" sz="3400" b="1" i="1">
                          <a:latin typeface="Cambria Math" panose="02040503050406030204" pitchFamily="18" charset="0"/>
                        </a:rPr>
                        <m:t>​≥</m:t>
                      </m:r>
                      <m:r>
                        <a:rPr lang="en-US" altLang="zh-TW" sz="34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altLang="zh-TW" sz="3400" b="1" dirty="0"/>
              </a:p>
              <a:p>
                <a:r>
                  <a:rPr lang="en-US" altLang="zh-TW" sz="3400" dirty="0"/>
                  <a:t>Substituting in our first and second order lie derivatives; we have our final constraint.</a:t>
                </a:r>
              </a:p>
              <a:p>
                <a:pPr algn="ctr"/>
                <a:r>
                  <a:rPr lang="en-US" altLang="zh-TW" sz="3400" b="1" dirty="0"/>
                  <a:t>	</a:t>
                </a:r>
                <a14:m>
                  <m:oMath xmlns:m="http://schemas.openxmlformats.org/officeDocument/2006/math">
                    <m:r>
                      <a:rPr lang="en-US" altLang="zh-TW" sz="3400" b="1" i="1" smtClean="0">
                        <a:latin typeface="Cambria Math" panose="02040503050406030204" pitchFamily="18" charset="0"/>
                      </a:rPr>
                      <m:t>𝟐</m:t>
                    </m:r>
                    <m:d>
                      <m:dPr>
                        <m:ctrlPr>
                          <a:rPr lang="en-US" altLang="zh-TW" sz="3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3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400" b="1" i="1">
                                <a:latin typeface="Cambria Math" panose="02040503050406030204" pitchFamily="18" charset="0"/>
                              </a:rPr>
                              <m:t>𝜹</m:t>
                            </m:r>
                          </m:e>
                          <m:sub>
                            <m:r>
                              <a:rPr lang="en-US" altLang="zh-TW" sz="3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  <m:r>
                          <a:rPr lang="en-US" altLang="zh-TW" sz="3400" b="1" i="1">
                            <a:latin typeface="Cambria Math" panose="02040503050406030204" pitchFamily="18" charset="0"/>
                          </a:rPr>
                          <m:t>​</m:t>
                        </m:r>
                        <m:r>
                          <a:rPr lang="en-US" altLang="zh-TW" sz="3400" b="1" i="1">
                            <a:latin typeface="Cambria Math" panose="02040503050406030204" pitchFamily="18" charset="0"/>
                          </a:rPr>
                          <m:t>𝒄𝒐𝒔</m:t>
                        </m:r>
                        <m:r>
                          <a:rPr lang="en-US" altLang="zh-TW" sz="3400" b="1" i="1"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zh-TW" sz="3400" b="1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sz="3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400" b="1" i="1">
                                <a:latin typeface="Cambria Math" panose="02040503050406030204" pitchFamily="18" charset="0"/>
                              </a:rPr>
                              <m:t>𝜹</m:t>
                            </m:r>
                          </m:e>
                          <m:sub>
                            <m:r>
                              <a:rPr lang="en-US" altLang="zh-TW" sz="34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  <m:r>
                          <a:rPr lang="en-US" altLang="zh-TW" sz="3400" b="1" i="1">
                            <a:latin typeface="Cambria Math" panose="02040503050406030204" pitchFamily="18" charset="0"/>
                          </a:rPr>
                          <m:t>​</m:t>
                        </m:r>
                        <m:r>
                          <a:rPr lang="en-US" altLang="zh-TW" sz="3400" b="1" i="1">
                            <a:latin typeface="Cambria Math" panose="02040503050406030204" pitchFamily="18" charset="0"/>
                          </a:rPr>
                          <m:t>𝒔𝒊𝒏</m:t>
                        </m:r>
                        <m:r>
                          <a:rPr lang="en-US" altLang="zh-TW" sz="3400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altLang="zh-TW" sz="3400" b="1" i="1">
                        <a:latin typeface="Cambria Math" panose="02040503050406030204" pitchFamily="18" charset="0"/>
                      </a:rPr>
                      <m:t>​​⋅</m:t>
                    </m:r>
                    <m:r>
                      <a:rPr lang="en-US" altLang="zh-TW" sz="34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TW" sz="3400" b="1" i="1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endParaRPr lang="en-US" altLang="zh-TW" sz="3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34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34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TW" sz="3400" b="1" i="1">
                          <a:latin typeface="Cambria Math" panose="02040503050406030204" pitchFamily="18" charset="0"/>
                        </a:rPr>
                        <m:t>𝒗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3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l-GR" altLang="zh-TW" sz="3400" b="1" i="1">
                              <a:latin typeface="Cambria Math" panose="02040503050406030204" pitchFamily="18" charset="0"/>
                            </a:rPr>
                            <m:t>𝝎</m:t>
                          </m:r>
                          <m:d>
                            <m:dPr>
                              <m:ctrlPr>
                                <a:rPr lang="el-GR" altLang="zh-TW" sz="3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3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altLang="zh-TW" sz="3400" b="1" i="1">
                                      <a:latin typeface="Cambria Math" panose="02040503050406030204" pitchFamily="18" charset="0"/>
                                    </a:rPr>
                                    <m:t>𝜹</m:t>
                                  </m:r>
                                </m:e>
                                <m:sub>
                                  <m:r>
                                    <a:rPr lang="en-US" altLang="zh-TW" sz="34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sub>
                              </m:sSub>
                              <m: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  <m: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  <m:t>𝒄𝒐𝒔</m:t>
                              </m:r>
                              <m: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3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3400" b="1" i="1">
                                      <a:latin typeface="Cambria Math" panose="02040503050406030204" pitchFamily="18" charset="0"/>
                                    </a:rPr>
                                    <m:t>𝜹</m:t>
                                  </m:r>
                                </m:e>
                                <m:sub>
                                  <m:r>
                                    <a:rPr lang="en-US" altLang="zh-TW" sz="3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sub>
                              </m:sSub>
                              <m: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  <m: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  <m:t>𝒔𝒊𝒏</m:t>
                              </m:r>
                              <m:r>
                                <a:rPr lang="en-US" altLang="zh-TW" sz="3400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</m:d>
                      <m:r>
                        <a:rPr lang="en-US" altLang="zh-TW" sz="3400" b="1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sz="3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𝜸</m:t>
                          </m:r>
                        </m:e>
                        <m:sub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TW" sz="3400" b="1" i="1">
                          <a:latin typeface="Cambria Math" panose="02040503050406030204" pitchFamily="18" charset="0"/>
                        </a:rPr>
                        <m:t>​</m:t>
                      </m:r>
                      <m:acc>
                        <m:accPr>
                          <m:chr m:val="̇"/>
                          <m:ctrlPr>
                            <a:rPr lang="en-US" altLang="zh-TW" sz="3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</m:acc>
                      <m:r>
                        <a:rPr lang="en-US" altLang="zh-TW" sz="3400" b="1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sz="3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𝜸</m:t>
                          </m:r>
                        </m:e>
                        <m:sub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TW" sz="3400" b="1" i="1">
                          <a:latin typeface="Cambria Math" panose="02040503050406030204" pitchFamily="18" charset="0"/>
                        </a:rPr>
                        <m:t>​</m:t>
                      </m:r>
                      <m:sSub>
                        <m:sSubPr>
                          <m:ctrlPr>
                            <a:rPr lang="en-US" altLang="zh-TW" sz="3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𝝍</m:t>
                          </m:r>
                        </m:e>
                        <m:sub>
                          <m:r>
                            <a:rPr lang="en-US" altLang="zh-TW" sz="3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altLang="zh-TW" sz="3400" b="1" dirty="0"/>
              </a:p>
              <a:p>
                <a:endParaRPr lang="en-US" altLang="zh-TW" sz="3200" dirty="0"/>
              </a:p>
              <a:p>
                <a:endParaRPr lang="en-US" altLang="zh-TW" sz="48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056" name="Rectangle 3">
                <a:extLst>
                  <a:ext uri="{FF2B5EF4-FFF2-40B4-BE49-F238E27FC236}">
                    <a16:creationId xmlns:a16="http://schemas.microsoft.com/office/drawing/2014/main" id="{787D8A20-1BC5-40BD-BBB4-5293FF6BD2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5485" y="5772451"/>
                <a:ext cx="8928497" cy="24894123"/>
              </a:xfrm>
              <a:prstGeom prst="rect">
                <a:avLst/>
              </a:prstGeom>
              <a:blipFill>
                <a:blip r:embed="rId3"/>
                <a:stretch>
                  <a:fillRect l="-3276" t="-563" r="-245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 descr="C:\Users\jmlee\Desktop\SSM Marketing\NTU Logo (full colour).png">
            <a:extLst>
              <a:ext uri="{FF2B5EF4-FFF2-40B4-BE49-F238E27FC236}">
                <a16:creationId xmlns:a16="http://schemas.microsoft.com/office/drawing/2014/main" id="{FE3B7F0C-6E27-493C-97D6-A6A4CF1BB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50" y="-274637"/>
            <a:ext cx="5201990" cy="3679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E7805A02-6F89-D9A7-BEA9-F4EB823E3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5991" y="7075091"/>
            <a:ext cx="8928497" cy="282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55675">
              <a:defRPr sz="5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defRPr sz="5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defRPr sz="5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defRPr sz="58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defRPr sz="58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fontAlgn="base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fontAlgn="base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fontAlgn="base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fontAlgn="base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/>
            <a:r>
              <a:rPr lang="en-SG" altLang="en-US" sz="3200" dirty="0">
                <a:sym typeface="Calibri" panose="020F0502020204030204" pitchFamily="34" charset="0"/>
              </a:rPr>
              <a:t>	</a:t>
            </a:r>
            <a:r>
              <a:rPr lang="en-SG" altLang="en-US" sz="3200" b="1" dirty="0">
                <a:sym typeface="Calibri" panose="020F0502020204030204" pitchFamily="34" charset="0"/>
              </a:rPr>
              <a:t>Neglecting the physical aspect</a:t>
            </a:r>
            <a:r>
              <a:rPr lang="en-SG" altLang="en-US" sz="3200" dirty="0">
                <a:sym typeface="Calibri" panose="020F0502020204030204" pitchFamily="34" charset="0"/>
              </a:rPr>
              <a:t>, RRT will always work unless the robot is surrounded, as shown in </a:t>
            </a:r>
            <a:r>
              <a:rPr lang="en-SG" altLang="en-US" sz="3200" b="1" dirty="0">
                <a:sym typeface="Calibri" panose="020F0502020204030204" pitchFamily="34" charset="0"/>
              </a:rPr>
              <a:t>vid1</a:t>
            </a:r>
            <a:r>
              <a:rPr lang="en-SG" altLang="en-US" sz="3200" dirty="0">
                <a:sym typeface="Calibri" panose="020F0502020204030204" pitchFamily="34" charset="0"/>
              </a:rPr>
              <a:t>. This is because it can control its position at any moment.</a:t>
            </a:r>
          </a:p>
          <a:p>
            <a:pPr eaLnBrk="1"/>
            <a:r>
              <a:rPr lang="en-SG" altLang="en-US" sz="3200" dirty="0">
                <a:sym typeface="Calibri" panose="020F0502020204030204" pitchFamily="34" charset="0"/>
              </a:rPr>
              <a:t>	</a:t>
            </a:r>
            <a:r>
              <a:rPr lang="en-US" altLang="zh-TW" sz="3200" dirty="0"/>
              <a:t>Taking physics into account, </a:t>
            </a:r>
            <a:r>
              <a:rPr lang="en-US" altLang="zh-TW" sz="3200" b="1" dirty="0"/>
              <a:t>inertia</a:t>
            </a:r>
            <a:r>
              <a:rPr lang="en-US" altLang="zh-TW" sz="3200" dirty="0"/>
              <a:t> is a critical factor. No matter how hard the brakes are engaged, a collision is possible if the obstacle is too close, as seen in Video 2.</a:t>
            </a:r>
          </a:p>
          <a:p>
            <a:pPr eaLnBrk="1"/>
            <a:r>
              <a:rPr lang="en-US" altLang="en-US" sz="3200" dirty="0">
                <a:sym typeface="Calibri" panose="020F0502020204030204" pitchFamily="34" charset="0"/>
              </a:rPr>
              <a:t>	</a:t>
            </a:r>
            <a:r>
              <a:rPr lang="en-US" altLang="zh-TW" sz="3200" dirty="0">
                <a:sym typeface="Calibri" panose="020F0502020204030204" pitchFamily="34" charset="0"/>
              </a:rPr>
              <a:t>In order to prevent collision, </a:t>
            </a:r>
            <a:r>
              <a:rPr lang="en-US" altLang="zh-TW" sz="3200" dirty="0"/>
              <a:t>the following methods were employed</a:t>
            </a:r>
            <a:r>
              <a:rPr lang="en-US" altLang="zh-TW" sz="3200" dirty="0">
                <a:sym typeface="Calibri" panose="020F0502020204030204" pitchFamily="34" charset="0"/>
              </a:rPr>
              <a:t>. First, t</a:t>
            </a:r>
            <a:r>
              <a:rPr lang="en-US" altLang="zh-TW" sz="3200" dirty="0"/>
              <a:t>he planner generates a nominal route</a:t>
            </a:r>
            <a:r>
              <a:rPr lang="en-US" altLang="zh-TW" sz="3200" dirty="0">
                <a:sym typeface="Calibri" panose="020F0502020204030204" pitchFamily="34" charset="0"/>
              </a:rPr>
              <a:t>. However, when entering a dangerous zone (h &lt; 0, when too close to the obstacle), </a:t>
            </a:r>
            <a:r>
              <a:rPr lang="en-US" altLang="zh-TW" sz="3200" dirty="0"/>
              <a:t>it triggers CBF-QP, which attempts to steer the robot away</a:t>
            </a:r>
            <a:r>
              <a:rPr lang="en-US" altLang="zh-TW" sz="3200" dirty="0">
                <a:sym typeface="Calibri" panose="020F0502020204030204" pitchFamily="34" charset="0"/>
              </a:rPr>
              <a:t>. When escaping, it may collide with another existing obstacle, </a:t>
            </a:r>
            <a:r>
              <a:rPr lang="en-US" altLang="zh-TW" sz="3200" dirty="0"/>
              <a:t>the controller must continuously monitor the nearest obstacle</a:t>
            </a:r>
            <a:r>
              <a:rPr lang="en-US" altLang="zh-TW" sz="3200" dirty="0">
                <a:sym typeface="Calibri" panose="020F0502020204030204" pitchFamily="34" charset="0"/>
              </a:rPr>
              <a:t>. The result is shown on vid3.</a:t>
            </a:r>
          </a:p>
          <a:p>
            <a:pPr eaLnBrk="1"/>
            <a:r>
              <a:rPr lang="en-US" altLang="zh-TW" sz="4800" b="1" dirty="0">
                <a:solidFill>
                  <a:srgbClr val="FF0000"/>
                </a:solidFill>
                <a:cs typeface="Calibri" panose="020F0502020204030204" pitchFamily="34" charset="0"/>
              </a:rPr>
              <a:t>4. Conclusions</a:t>
            </a:r>
          </a:p>
          <a:p>
            <a:pPr eaLnBrk="1"/>
            <a:r>
              <a:rPr lang="en-US" altLang="zh-TW" sz="3200" dirty="0"/>
              <a:t>	This project demonstrates that integrating CBF-QP with RRT-based path planning provides a robust framework for real-time safe navigation in dynamic environments. While RRT alone fails to account for inertia and runtime obstacle emergence, CBF-QP acts as a formal safety filter that provably modifies control inputs to prevent collisions. The two-layer architecture — planning-time nominal path + runtime safety guarantee — proves effective in simulation, with the robot successfully avoiding dynamic obstacles even under physical constraints.</a:t>
            </a:r>
            <a:endParaRPr lang="en-US" altLang="zh-TW" sz="3200" dirty="0">
              <a:sym typeface="Calibri" panose="020F0502020204030204" pitchFamily="34" charset="0"/>
            </a:endParaRPr>
          </a:p>
          <a:p>
            <a:pPr eaLnBrk="1"/>
            <a:r>
              <a:rPr lang="en-US" altLang="zh-TW" sz="4800" b="1" dirty="0">
                <a:solidFill>
                  <a:srgbClr val="FF0000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5. </a:t>
            </a:r>
            <a:r>
              <a:rPr lang="en-US" altLang="zh-TW" sz="4800" b="1" dirty="0">
                <a:solidFill>
                  <a:srgbClr val="FF0000"/>
                </a:solidFill>
                <a:cs typeface="Calibri" panose="020F0502020204030204" pitchFamily="34" charset="0"/>
              </a:rPr>
              <a:t>Future work </a:t>
            </a:r>
            <a:endParaRPr lang="en-US" altLang="zh-TW" sz="4800" b="1" dirty="0">
              <a:solidFill>
                <a:srgbClr val="FF0000"/>
              </a:solidFill>
              <a:cs typeface="Calibri" panose="020F0502020204030204" pitchFamily="34" charset="0"/>
              <a:sym typeface="Calibri" panose="020F0502020204030204" pitchFamily="34" charset="0"/>
            </a:endParaRPr>
          </a:p>
          <a:p>
            <a:pPr eaLnBrk="1"/>
            <a:r>
              <a:rPr lang="en-US" altLang="zh-TW" sz="3200" dirty="0"/>
              <a:t>	Several directions remain open for future exploration. First, the current implementation always tracks the single nearest obstacle; extending this to handle </a:t>
            </a:r>
            <a:r>
              <a:rPr lang="en-US" altLang="zh-TW" sz="3200" b="1" dirty="0"/>
              <a:t>multiple simultaneous obstacles</a:t>
            </a:r>
            <a:r>
              <a:rPr lang="en-US" altLang="zh-TW" sz="3200" dirty="0"/>
              <a:t> with priority weighting would improve robustness. Second, replacing RRT with a more informed planner (e.g., </a:t>
            </a:r>
            <a:r>
              <a:rPr lang="en-US" altLang="zh-TW" sz="3200" b="1" dirty="0"/>
              <a:t>RRT* or trajectory optimization</a:t>
            </a:r>
            <a:r>
              <a:rPr lang="en-US" altLang="zh-TW" sz="3200" dirty="0"/>
              <a:t>) could reduce the frequency of CBF interventions. Third, validating the framework on a </a:t>
            </a:r>
            <a:r>
              <a:rPr lang="en-US" altLang="zh-TW" sz="3200" b="1" dirty="0"/>
              <a:t>physical robot platform</a:t>
            </a:r>
            <a:r>
              <a:rPr lang="en-US" altLang="zh-TW" sz="3200" dirty="0"/>
              <a:t> (beyond </a:t>
            </a:r>
            <a:r>
              <a:rPr lang="en-US" altLang="zh-TW" sz="3200" dirty="0" err="1"/>
              <a:t>PyBullet</a:t>
            </a:r>
            <a:r>
              <a:rPr lang="en-US" altLang="zh-TW" sz="3200" dirty="0"/>
              <a:t> simulation) would confirm real-world transferability. Finally, exploring </a:t>
            </a:r>
            <a:r>
              <a:rPr lang="en-US" altLang="zh-TW" sz="3200" b="1" dirty="0"/>
              <a:t>adaptive CBF parameters</a:t>
            </a:r>
            <a:r>
              <a:rPr lang="en-US" altLang="zh-TW" sz="3200" dirty="0"/>
              <a:t> that adjust safety margins based on obstacle velocity could improve performance in high-speed dynamic scenarios.</a:t>
            </a:r>
            <a:endParaRPr lang="en-SG" altLang="en-US" sz="3200" dirty="0">
              <a:sym typeface="Calibri" panose="020F0502020204030204" pitchFamily="34" charset="0"/>
            </a:endParaRPr>
          </a:p>
          <a:p>
            <a:pPr eaLnBrk="1"/>
            <a:endParaRPr lang="en-SG" altLang="en-US" sz="3200" b="1" dirty="0">
              <a:sym typeface="Calibri" panose="020F0502020204030204" pitchFamily="34" charset="0"/>
            </a:endParaRPr>
          </a:p>
          <a:p>
            <a:pPr eaLnBrk="1"/>
            <a:endParaRPr lang="en-SG" altLang="en-US" sz="3200" b="1" dirty="0">
              <a:sym typeface="Calibri" panose="020F0502020204030204" pitchFamily="34" charset="0"/>
            </a:endParaRPr>
          </a:p>
          <a:p>
            <a:pPr eaLnBrk="1"/>
            <a:endParaRPr lang="en-SG" altLang="en-US" sz="3200" b="1" dirty="0">
              <a:sym typeface="Calibri" panose="020F0502020204030204" pitchFamily="34" charset="0"/>
            </a:endParaRPr>
          </a:p>
          <a:p>
            <a:pPr eaLnBrk="1"/>
            <a:endParaRPr lang="en-SG" altLang="en-US" sz="3200" b="1" dirty="0">
              <a:sym typeface="Calibri" panose="020F0502020204030204" pitchFamily="34" charset="0"/>
            </a:endParaRPr>
          </a:p>
          <a:p>
            <a:pPr eaLnBrk="1"/>
            <a:endParaRPr lang="en-SG" altLang="en-US" sz="11500" b="1" dirty="0">
              <a:solidFill>
                <a:srgbClr val="FF0000"/>
              </a:solidFill>
              <a:cs typeface="Calibri" panose="020F0502020204030204" pitchFamily="34" charset="0"/>
              <a:sym typeface="Calibri" panose="020F0502020204030204" pitchFamily="34" charset="0"/>
            </a:endParaRPr>
          </a:p>
          <a:p>
            <a:pPr eaLnBrk="1"/>
            <a:endParaRPr lang="en-SG" altLang="en-US" sz="4800" dirty="0">
              <a:solidFill>
                <a:srgbClr val="000000"/>
              </a:solidFill>
              <a:cs typeface="Calibri" panose="020F0502020204030204" pitchFamily="34" charset="0"/>
              <a:sym typeface="Calibri" panose="020F0502020204030204" pitchFamily="34" charset="0"/>
            </a:endParaRPr>
          </a:p>
          <a:p>
            <a:pPr eaLnBrk="1"/>
            <a:endParaRPr lang="en-SG" altLang="en-US" sz="4800" dirty="0">
              <a:solidFill>
                <a:srgbClr val="000000"/>
              </a:solidFill>
              <a:cs typeface="Calibri" panose="020F0502020204030204" pitchFamily="34" charset="0"/>
              <a:sym typeface="Calibri" panose="020F0502020204030204" pitchFamily="34" charset="0"/>
            </a:endParaRPr>
          </a:p>
          <a:p>
            <a:pPr eaLnBrk="1"/>
            <a:endParaRPr lang="en-SG" altLang="en-US" sz="4800" dirty="0">
              <a:solidFill>
                <a:srgbClr val="000000"/>
              </a:solidFill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D06A4218-E24D-0825-F78B-368E1673F3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442146"/>
              </p:ext>
            </p:extLst>
          </p:nvPr>
        </p:nvGraphicFramePr>
        <p:xfrm>
          <a:off x="10981432" y="4464633"/>
          <a:ext cx="6120680" cy="2615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1358201696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3743125856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66874866"/>
                    </a:ext>
                  </a:extLst>
                </a:gridCol>
              </a:tblGrid>
              <a:tr h="187463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560670"/>
                  </a:ext>
                </a:extLst>
              </a:tr>
              <a:tr h="74100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>
                          <a:hlinkClick r:id="rId5"/>
                        </a:rPr>
                        <a:t>vid1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>
                          <a:hlinkClick r:id="rId6"/>
                        </a:rPr>
                        <a:t>vid2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>
                          <a:hlinkClick r:id="rId7"/>
                        </a:rPr>
                        <a:t>vid3</a:t>
                      </a:r>
                      <a:endParaRPr lang="zh-TW" altLang="en-US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126649"/>
                  </a:ext>
                </a:extLst>
              </a:tr>
            </a:tbl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CB9EF628-C844-1800-06BC-C2ECFADC9E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97457" y="4588671"/>
            <a:ext cx="1645368" cy="1581639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6629F10A-EA03-838C-0DAA-1293D49EEB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28352" y="4615168"/>
            <a:ext cx="1548871" cy="155514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32B3909C-5D49-7CF9-D3D1-801CABA7456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310240" y="4600042"/>
            <a:ext cx="1580666" cy="15806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C7696AF6EDCA4E8ABD2A4319677E8B" ma:contentTypeVersion="4" ma:contentTypeDescription="Create a new document." ma:contentTypeScope="" ma:versionID="7bcf36105da0b28e51d130418143fa35">
  <xsd:schema xmlns:xsd="http://www.w3.org/2001/XMLSchema" xmlns:xs="http://www.w3.org/2001/XMLSchema" xmlns:p="http://schemas.microsoft.com/office/2006/metadata/properties" xmlns:ns2="b25cd309-9848-43a6-94e1-371f3f52994a" targetNamespace="http://schemas.microsoft.com/office/2006/metadata/properties" ma:root="true" ma:fieldsID="15c4d4e4985373e18c425be117b7cb57" ns2:_="">
    <xsd:import namespace="b25cd309-9848-43a6-94e1-371f3f5299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5cd309-9848-43a6-94e1-371f3f5299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EFD8C4A-05AF-47FA-8977-00F7A977B6F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9C2E2FE-01B6-4FD2-B56A-E2EEC4D824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25cd309-9848-43a6-94e1-371f3f5299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189E708-B13C-4F36-BA33-81092694155D}">
  <ds:schemaRefs>
    <ds:schemaRef ds:uri="http://purl.org/dc/terms/"/>
    <ds:schemaRef ds:uri="http://www.w3.org/XML/1998/namespace"/>
    <ds:schemaRef ds:uri="http://schemas.microsoft.com/office/2006/documentManagement/types"/>
    <ds:schemaRef ds:uri="http://schemas.microsoft.com/sharepoint/v3"/>
    <ds:schemaRef ds:uri="http://schemas.microsoft.com/office/2006/metadata/properties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1116</TotalTime>
  <Words>702</Words>
  <Application>Microsoft Office PowerPoint</Application>
  <PresentationFormat>自訂</PresentationFormat>
  <Paragraphs>46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Biying</dc:creator>
  <cp:lastModifiedBy>wesley20051022@gmail.com</cp:lastModifiedBy>
  <cp:revision>54</cp:revision>
  <dcterms:created xsi:type="dcterms:W3CDTF">2014-02-10T03:35:30Z</dcterms:created>
  <dcterms:modified xsi:type="dcterms:W3CDTF">2026-03-26T02:28:11Z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0x01010074C7696AF6EDCA4E8ABD2A4319677E8B</vt:lpwstr>
  </property>
</Properties>
</file>